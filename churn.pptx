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5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winder bhamra" userId="a12914428fb3a095" providerId="LiveId" clId="{F9C495C9-0E7D-43E7-AD41-513FD928BDD5}"/>
    <pc:docChg chg="custSel mod addSld delSld modSld addMainMaster delMainMaster modMainMaster modNotesMaster setSldSz">
      <pc:chgData name="kulwinder bhamra" userId="a12914428fb3a095" providerId="LiveId" clId="{F9C495C9-0E7D-43E7-AD41-513FD928BDD5}" dt="2026-05-12T16:03:19.052" v="12" actId="26606"/>
      <pc:docMkLst>
        <pc:docMk/>
      </pc:docMkLst>
      <pc:sldChg chg="addSp modSp add mod">
        <pc:chgData name="kulwinder bhamra" userId="a12914428fb3a095" providerId="LiveId" clId="{F9C495C9-0E7D-43E7-AD41-513FD928BDD5}" dt="2026-05-12T16:03:19.052" v="12" actId="26606"/>
        <pc:sldMkLst>
          <pc:docMk/>
          <pc:sldMk cId="0" sldId="256"/>
        </pc:sldMkLst>
        <pc:spChg chg="mod">
          <ac:chgData name="kulwinder bhamra" userId="a12914428fb3a095" providerId="LiveId" clId="{F9C495C9-0E7D-43E7-AD41-513FD928BDD5}" dt="2026-05-12T16:00:34.808" v="9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2T16:00:43.371" v="11" actId="20577"/>
          <ac:spMkLst>
            <pc:docMk/>
            <pc:sldMk cId="0" sldId="256"/>
            <ac:spMk id="4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2T16:03:19.052" v="12" actId="26606"/>
          <ac:spMkLst>
            <pc:docMk/>
            <pc:sldMk cId="0" sldId="256"/>
            <ac:spMk id="19" creationId="{00000000-0000-0000-0000-000000000000}"/>
          </ac:spMkLst>
        </pc:spChg>
      </pc:sldChg>
      <pc:sldChg chg="del">
        <pc:chgData name="kulwinder bhamra" userId="a12914428fb3a095" providerId="LiveId" clId="{F9C495C9-0E7D-43E7-AD41-513FD928BDD5}" dt="2026-05-12T14:08:20.500" v="0" actId="47"/>
        <pc:sldMkLst>
          <pc:docMk/>
          <pc:sldMk cId="3721108508" sldId="256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57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58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59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0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1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2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3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4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5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6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7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8"/>
        </pc:sldMkLst>
      </pc:sldChg>
      <pc:sldChg chg="add">
        <pc:chgData name="kulwinder bhamra" userId="a12914428fb3a095" providerId="LiveId" clId="{F9C495C9-0E7D-43E7-AD41-513FD928BDD5}" dt="2026-05-12T14:37:35.486" v="4" actId="26606"/>
        <pc:sldMkLst>
          <pc:docMk/>
          <pc:sldMk cId="0" sldId="269"/>
        </pc:sldMkLst>
      </pc:sldChg>
      <pc:sldChg chg="new del replId">
        <pc:chgData name="kulwinder bhamra" userId="a12914428fb3a095" providerId="LiveId" clId="{F9C495C9-0E7D-43E7-AD41-513FD928BDD5}" dt="2026-05-12T14:37:35.486" v="4" actId="26606"/>
        <pc:sldMkLst>
          <pc:docMk/>
          <pc:sldMk cId="4217886185" sldId="270"/>
        </pc:sldMkLst>
      </pc:sldChg>
      <pc:sldMasterChg chg="add addSldLayout">
        <pc:chgData name="kulwinder bhamra" userId="a12914428fb3a095" providerId="LiveId" clId="{F9C495C9-0E7D-43E7-AD41-513FD928BDD5}" dt="2026-05-12T14:37:35.486" v="4" actId="26606"/>
        <pc:sldMasterMkLst>
          <pc:docMk/>
          <pc:sldMasterMk cId="0" sldId="2147483648"/>
        </pc:sldMasterMkLst>
        <pc:sldLayoutChg chg="add">
          <pc:chgData name="kulwinder bhamra" userId="a12914428fb3a095" providerId="LiveId" clId="{F9C495C9-0E7D-43E7-AD41-513FD928BDD5}" dt="2026-05-12T14:37:35.486" v="4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kulwinder bhamra" userId="a12914428fb3a095" providerId="LiveId" clId="{F9C495C9-0E7D-43E7-AD41-513FD928BDD5}" dt="2026-05-12T14:37:35.486" v="4" actId="26606"/>
        <pc:sldMasterMkLst>
          <pc:docMk/>
          <pc:sldMasterMk cId="3929149438" sldId="2147483660"/>
        </pc:sldMasterMkLst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3834630304" sldId="2147483650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4194689464" sldId="2147483651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1845739477" sldId="2147483652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622077733" sldId="2147483653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196273949" sldId="2147483654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2516816912" sldId="2147483655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3669973972" sldId="2147483656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3970624600" sldId="2147483657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4214739394" sldId="2147483658"/>
          </pc:sldLayoutMkLst>
        </pc:sldLayoutChg>
        <pc:sldLayoutChg chg="del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3495669562" sldId="2147483659"/>
          </pc:sldLayoutMkLst>
        </pc:sldLayoutChg>
        <pc:sldLayoutChg chg="del replId">
          <pc:chgData name="kulwinder bhamra" userId="a12914428fb3a095" providerId="LiveId" clId="{F9C495C9-0E7D-43E7-AD41-513FD928BDD5}" dt="2026-05-12T14:37:35.486" v="4" actId="26606"/>
          <pc:sldLayoutMkLst>
            <pc:docMk/>
            <pc:sldMasterMk cId="3929149438" sldId="2147483660"/>
            <pc:sldLayoutMk cId="1112078166" sldId="214748366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89B4F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1-5</c:v>
                </c:pt>
                <c:pt idx="1">
                  <c:v>6-10</c:v>
                </c:pt>
                <c:pt idx="2">
                  <c:v>11-20</c:v>
                </c:pt>
                <c:pt idx="3">
                  <c:v>21-50</c:v>
                </c:pt>
                <c:pt idx="4">
                  <c:v>50+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1C-4338-A73F-3EEB19BD62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1314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131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F9E2A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UK</c:v>
                </c:pt>
                <c:pt idx="1">
                  <c:v>Germany</c:v>
                </c:pt>
                <c:pt idx="2">
                  <c:v>France</c:v>
                </c:pt>
                <c:pt idx="3">
                  <c:v>EIRE</c:v>
                </c:pt>
                <c:pt idx="4">
                  <c:v>Spain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F9-459F-BD1D-CA1FD3A77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1314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1314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Recency</c:v>
                </c:pt>
              </c:strCache>
            </c:strRef>
          </c:tx>
          <c:spPr>
            <a:solidFill>
              <a:srgbClr val="89B4F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0-30</c:v>
                </c:pt>
                <c:pt idx="1">
                  <c:v>31-90</c:v>
                </c:pt>
                <c:pt idx="2">
                  <c:v>91-180</c:v>
                </c:pt>
                <c:pt idx="3">
                  <c:v>180+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89-46DC-B69A-6DC71FFB40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1314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1314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A6E3A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1-2</c:v>
                </c:pt>
                <c:pt idx="1">
                  <c:v>3-5</c:v>
                </c:pt>
                <c:pt idx="2">
                  <c:v>6-10</c:v>
                </c:pt>
                <c:pt idx="3">
                  <c:v>10+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3-4AFB-86BF-B736386DA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1314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1314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Monetary</c:v>
                </c:pt>
              </c:strCache>
            </c:strRef>
          </c:tx>
          <c:spPr>
            <a:solidFill>
              <a:srgbClr val="F9E2A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</c:v>
                </c:pt>
                <c:pt idx="2">
                  <c:v>High</c:v>
                </c:pt>
                <c:pt idx="3">
                  <c:v>V.High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A3-4666-BFA7-726073200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1314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1314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Monetary</c:v>
                </c:pt>
              </c:strCache>
            </c:strRef>
          </c:tx>
          <c:spPr>
            <a:ln w="38100" cap="flat">
              <a:solidFill>
                <a:srgbClr val="89B4F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9B4FA"/>
              </a:solidFill>
              <a:ln w="9525" cap="flat">
                <a:solidFill>
                  <a:srgbClr val="89B4F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1-2</c:v>
                </c:pt>
                <c:pt idx="1">
                  <c:v>3-5</c:v>
                </c:pt>
                <c:pt idx="2">
                  <c:v>6-10</c:v>
                </c:pt>
                <c:pt idx="3">
                  <c:v>11-15</c:v>
                </c:pt>
                <c:pt idx="4">
                  <c:v>16-20</c:v>
                </c:pt>
                <c:pt idx="5">
                  <c:v>20+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</c:v>
                </c:pt>
                <c:pt idx="1">
                  <c:v>600</c:v>
                </c:pt>
                <c:pt idx="2">
                  <c:v>1500</c:v>
                </c:pt>
                <c:pt idx="3">
                  <c:v>2800</c:v>
                </c:pt>
                <c:pt idx="4">
                  <c:v>4200</c:v>
                </c:pt>
                <c:pt idx="5">
                  <c:v>5800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005-4FA4-BE85-4F5254E4A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1314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1314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Monetary</c:v>
                </c:pt>
              </c:strCache>
            </c:strRef>
          </c:tx>
          <c:spPr>
            <a:ln w="38100" cap="flat">
              <a:solidFill>
                <a:srgbClr val="F38B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8BA8"/>
              </a:solidFill>
              <a:ln w="9525" cap="flat">
                <a:solidFill>
                  <a:srgbClr val="F38B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0-15</c:v>
                </c:pt>
                <c:pt idx="1">
                  <c:v>16-30</c:v>
                </c:pt>
                <c:pt idx="2">
                  <c:v>31-60</c:v>
                </c:pt>
                <c:pt idx="3">
                  <c:v>61-90</c:v>
                </c:pt>
                <c:pt idx="4">
                  <c:v>91-120</c:v>
                </c:pt>
                <c:pt idx="5">
                  <c:v>120+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5800</c:v>
                </c:pt>
                <c:pt idx="1">
                  <c:v>4200</c:v>
                </c:pt>
                <c:pt idx="2">
                  <c:v>2500</c:v>
                </c:pt>
                <c:pt idx="3">
                  <c:v>1500</c:v>
                </c:pt>
                <c:pt idx="4">
                  <c:v>800</c:v>
                </c:pt>
                <c:pt idx="5">
                  <c:v>300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188-4884-92E5-C1D409C5F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1314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1314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BA6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Monetary</c:v>
                </c:pt>
                <c:pt idx="1">
                  <c:v>Frequency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99-41E1-B9C3-E7DC954556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1314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131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363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77240" y="708660"/>
            <a:ext cx="7315200" cy="411480"/>
          </a:xfrm>
          <a:prstGeom prst="rect">
            <a:avLst/>
          </a:prstGeom>
          <a:solidFill>
            <a:srgbClr val="18182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</a:t>
            </a:r>
            <a:r>
              <a:rPr lang="en-US" sz="14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notebook churn_prediction.ipynb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Churn Prediction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RFM Analysis &amp; Machine Learning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932688" cy="32004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32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84248" y="3200400"/>
            <a:ext cx="932688" cy="32004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984248" y="3200400"/>
            <a:ext cx="932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54096" y="3200400"/>
            <a:ext cx="1591056" cy="32004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054096" y="32004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82312" y="3200400"/>
            <a:ext cx="603504" cy="32004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82312" y="3200400"/>
            <a:ext cx="603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22976" y="3200400"/>
            <a:ext cx="1700784" cy="32004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522976" y="3200400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Dataset  |  Notebook Walkthrough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57199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Kulwinder Bhamra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Import Libraries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2926080"/>
          </a:xfrm>
          <a:prstGeom prst="rect">
            <a:avLst/>
          </a:prstGeom>
          <a:solidFill>
            <a:srgbClr val="18182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7589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2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 </a:t>
            </a: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2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sklearn.model_selection </a:t>
            </a: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sklearn.linear_model </a:t>
            </a: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sklearn.ensemble </a:t>
            </a: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sklearn.metrics </a:t>
            </a: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classification_report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8046720" cy="9144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Stack: </a:t>
            </a: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manipulation, Matplotlib for visualization, Scikit-Learn for ML modeling and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 Load Dataset &amp;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657600" cy="54864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8869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"data/online_retail.csv"</a:t>
            </a: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Fields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920240" cy="4572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920240" cy="4572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920240" cy="4572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purchased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920240" cy="4572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ID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103120"/>
            <a:ext cx="1920240" cy="4572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InvoiceDate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timestamps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651760"/>
            <a:ext cx="1920240" cy="4572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74320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3200400"/>
            <a:ext cx="1920240" cy="4572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7432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868680"/>
            <a:ext cx="3840480" cy="393192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16636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Retail Dataset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150876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 from a UK-based online retailer, containing purchase details across multiple countries.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customer segmentation and churn analysis through RFM feature engineering.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3474720"/>
            <a:ext cx="3383280" cy="10972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303520" y="3566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 Data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713232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31520" y="996696"/>
            <a:ext cx="457200" cy="457200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996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Missing Customer IDs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customer-level analysis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78408"/>
            <a:ext cx="3657600" cy="4572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92040" y="978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df.dropna(subset=['Customer ID'])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73352"/>
            <a:ext cx="8046720" cy="713232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31520" y="1801368"/>
            <a:ext cx="457200" cy="457200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3152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Descriptions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row integrity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3657600" cy="4572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9204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df['Description'].fillna('Unknown')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478024"/>
            <a:ext cx="8046720" cy="713232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523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Transactions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2843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negative/zero values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87752"/>
            <a:ext cx="3657600" cy="4572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92040" y="25877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df[(df['Quantity'] &gt; 0) &amp; (df['Price'] &gt; 0)]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282696"/>
            <a:ext cx="8046720" cy="713232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31520" y="3410712"/>
            <a:ext cx="457200" cy="457200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3152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Types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date &amp; ID formatting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92424"/>
            <a:ext cx="3657600" cy="4572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92040" y="33924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pd.to_datetime(df['InvoiceDate'])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087368"/>
            <a:ext cx="8046720" cy="713232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31520" y="4215384"/>
            <a:ext cx="457200" cy="457200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3152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7160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Total Price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71600" y="4453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 for monetary analysis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197096"/>
            <a:ext cx="3657600" cy="4572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92040" y="41970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df['TotalPrice'] = Quantity * Price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 Exploratory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40480" cy="274320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Purchase Quantities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371600"/>
          <a:ext cx="34747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868680"/>
            <a:ext cx="3840480" cy="274320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93776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by Transactions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937760" y="1371600"/>
          <a:ext cx="34747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794760"/>
            <a:ext cx="3840480" cy="10972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731520" y="3886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1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purchases involved small quantities, with a long tail of large orders.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3794760"/>
            <a:ext cx="3840480" cy="10972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4937760" y="3886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1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dominates transactions, indicating the retailer's strongest customer base.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BA6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 RFM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606040" cy="164592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868680"/>
            <a:ext cx="2606040" cy="164592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383280" y="960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purchases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606040" cy="164592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217920" y="960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 amount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8046720" cy="2103120"/>
          </a:xfrm>
          <a:prstGeom prst="rect">
            <a:avLst/>
          </a:prstGeom>
          <a:solidFill>
            <a:srgbClr val="18182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" y="288036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snapshot_date = df['InvoiceDate'].max()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 = df.groupby('Customer ID').agg({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'InvoiceDate': </a:t>
            </a:r>
            <a:r>
              <a:rPr lang="en-US" sz="11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x: (snapshot_date - x.max()).days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'Invoice':     </a:t>
            </a: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'nunique'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'TotalPrice':  </a:t>
            </a: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'sum'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rfm.columns = ['Recency', 'Frequency', 'Monetary']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 Define Customer Churn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128016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inactive for more than 90 days were labeled as churned.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468880"/>
            <a:ext cx="6400800" cy="6400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554480" y="2468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rfm[</a:t>
            </a: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'Churn'</a:t>
            </a: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rfm[</a:t>
            </a: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'Recency'</a:t>
            </a: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].apply(</a:t>
            </a:r>
            <a:r>
              <a:rPr lang="en-US" sz="12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x: 1 if x &gt; 90 else 0</a:t>
            </a: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3017520" cy="13716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≤ 90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 = 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3383280"/>
            <a:ext cx="3017520" cy="137160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5488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&gt; 90 days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 = 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  RFM Distributions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606040" cy="237744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Distribution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234440"/>
          <a:ext cx="24231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383280" y="868680"/>
            <a:ext cx="2606040" cy="237744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474720" y="914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Distribution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3474720" y="1234440"/>
          <a:ext cx="24231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217920" y="868680"/>
            <a:ext cx="2606040" cy="237744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6309360" y="914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Distribution</a:t>
            </a:r>
            <a:endParaRPr lang="en-US" sz="120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6309360" y="1234440"/>
          <a:ext cx="24231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hape 8"/>
          <p:cNvSpPr/>
          <p:nvPr/>
        </p:nvSpPr>
        <p:spPr>
          <a:xfrm>
            <a:off x="548640" y="3429000"/>
            <a:ext cx="2606040" cy="146304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640080" y="35204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purchased recently; a smaller group showed long inactivity.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383280" y="3429000"/>
            <a:ext cx="2606040" cy="146304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474720" y="35204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made few purchases; a small number were highly frequent.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217920" y="3429000"/>
            <a:ext cx="2606040" cy="146304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6309360" y="35204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was highly skewed — a few customers contributed very large amounts.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[7b]  RFM Relationships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40480" cy="292608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vs Monetary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280160"/>
          <a:ext cx="3474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868680"/>
            <a:ext cx="3840480" cy="292608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93776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vs Monetary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937760" y="1280160"/>
          <a:ext cx="3474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977640"/>
            <a:ext cx="3840480" cy="9144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731520" y="4069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1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 buyers generally spent more money overall.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3977640"/>
            <a:ext cx="3840480" cy="9144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4937760" y="4069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1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customers (high recency) showed lower spending levels.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  Logistic Regression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4114800" cy="3200400"/>
          </a:xfrm>
          <a:prstGeom prst="rect">
            <a:avLst/>
          </a:prstGeom>
          <a:solidFill>
            <a:srgbClr val="18182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Prepare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rfm[['Recency','Frequency','Monetary']]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rfm['Churn']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Train-Test 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train_test_split(X, y, test_size=0.2)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&amp; Predict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LogisticRegression()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868680"/>
            <a:ext cx="3566160" cy="1828800"/>
          </a:xfrm>
          <a:prstGeom prst="rect">
            <a:avLst/>
          </a:prstGeom>
          <a:solidFill>
            <a:srgbClr val="3D1F1F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21208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Warning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0" y="1417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achieved unrealistically high accuracy because churn was directly defined using Recency — the same feature used for prediction.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926080"/>
            <a:ext cx="3566160" cy="164592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2120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3383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Precision:  </a:t>
            </a:r>
            <a:r>
              <a:rPr lang="en-US" sz="1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Recall:     </a:t>
            </a:r>
            <a:r>
              <a:rPr lang="en-US" sz="1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F1-Score:   </a:t>
            </a:r>
            <a:r>
              <a:rPr lang="en-US" sz="1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Too perfect — indicates leakage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[9]  Improved Modeling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4572000" cy="114300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temporal cutoff on InvoiceDate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cutoff = df['InvoiceDate'].quantile(0.8)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4572000" cy="114300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RFM 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RFM from training period 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rfm_train = train.groupby('Customer ID')...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4572000" cy="114300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Future-Based Labels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not active in test period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rfm_train['Churn'] = ~index.isin(active)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914400"/>
            <a:ext cx="3291840" cy="397764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6692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155448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approach defined churn using Recency, then used Recency as a feature — creating perfect but meaningless predictions.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improved approach separates the label generation from the feature set by using future customer activity as the churn indicator.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real-world scenarios where we predict future behavior from historical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BA6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[10]  Random Forest &amp; Feature Importance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4114800" cy="2286000"/>
          </a:xfrm>
          <a:prstGeom prst="rect">
            <a:avLst/>
          </a:prstGeom>
          <a:solidFill>
            <a:srgbClr val="18182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Features: Frequency &amp; Monetary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rfm_train[['Frequency', 'Monetary']]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rfm_train['Churn']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RandomForestClassifier(random_state=42)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model.predict(X_val)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868680"/>
            <a:ext cx="3566160" cy="228600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21208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212080" y="1280160"/>
          <a:ext cx="32004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383280"/>
            <a:ext cx="8046720" cy="1463040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achieved more realistic performance without recency leakage. Monetary value emerged as the strongest predictor of churn — high-value customers are less likely to leave.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 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73152" cy="658368"/>
          </a:xfrm>
          <a:prstGeom prst="rect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were less likely to churn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8046720" cy="658368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73152" cy="658368"/>
          </a:xfrm>
          <a:prstGeom prst="rect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inactivity periods showed higher churn rates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658368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73152" cy="658368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behavior strongly influenced retention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658368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73152" cy="658368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value was the most important predictive feature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046720" cy="658368"/>
          </a:xfrm>
          <a:prstGeom prst="rect">
            <a:avLst/>
          </a:prstGeom>
          <a:solidFill>
            <a:srgbClr val="3131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73152" cy="658368"/>
          </a:xfrm>
          <a:prstGeom prst="rect">
            <a:avLst/>
          </a:prstGeom>
          <a:solidFill>
            <a:srgbClr val="CBA6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validation produced more realistic performance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[13] 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3931920" cy="274320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Identified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spenders tended to remain active customers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inactivity was the strongest churn signal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behavior predicted retention better than purchase frequency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2743200"/>
          </a:xfrm>
          <a:prstGeom prst="rect">
            <a:avLst/>
          </a:prstGeom>
          <a:solidFill>
            <a:srgbClr val="3131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834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engineering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evaluation &amp;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Business-focused interpretation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validation techniques are essential — initial results appeared perfect due to data leakage. Time-based validation with Random Forest produced realistic, actionable insights for customer retention strategies.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1056</Words>
  <Application>Microsoft Office PowerPoint</Application>
  <PresentationFormat>On-screen Show (16:9)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kulwinder bhamra</dc:creator>
  <cp:lastModifiedBy>kulwinder bhamra</cp:lastModifiedBy>
  <cp:revision>1</cp:revision>
  <dcterms:created xsi:type="dcterms:W3CDTF">2026-05-12T14:08:02Z</dcterms:created>
  <dcterms:modified xsi:type="dcterms:W3CDTF">2026-05-12T16:03:27Z</dcterms:modified>
</cp:coreProperties>
</file>