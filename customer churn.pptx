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43" d="100"/>
          <a:sy n="43" d="100"/>
        </p:scale>
        <p:origin x="112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lwinder bhamra" userId="a12914428fb3a095" providerId="LiveId" clId="{F9C495C9-0E7D-43E7-AD41-513FD928BDD5}"/>
    <pc:docChg chg="undo custSel mod addSld delSld modSld addMainMaster delMainMaster modMainMaster modNotesMaster setSldSz">
      <pc:chgData name="kulwinder bhamra" userId="a12914428fb3a095" providerId="LiveId" clId="{F9C495C9-0E7D-43E7-AD41-513FD928BDD5}" dt="2026-07-21T21:10:39.181" v="83" actId="26606"/>
      <pc:docMkLst>
        <pc:docMk/>
      </pc:docMkLst>
      <pc:sldChg chg="addSp delSp modSp add mod modNotes">
        <pc:chgData name="kulwinder bhamra" userId="a12914428fb3a095" providerId="LiveId" clId="{F9C495C9-0E7D-43E7-AD41-513FD928BDD5}" dt="2026-07-21T21:07:25.942" v="81" actId="26606"/>
        <pc:sldMkLst>
          <pc:docMk/>
          <pc:sldMk cId="0" sldId="264"/>
        </pc:sldMkLst>
        <pc:graphicFrameChg chg="mod">
          <ac:chgData name="kulwinder bhamra" userId="a12914428fb3a095" providerId="LiveId" clId="{F9C495C9-0E7D-43E7-AD41-513FD928BDD5}" dt="2026-07-21T21:07:25.942" v="81" actId="26606"/>
          <ac:graphicFrameMkLst>
            <pc:docMk/>
            <pc:sldMk cId="0" sldId="264"/>
            <ac:graphicFrameMk id="3" creationId="{00000000-0000-0000-0000-000000000000}"/>
          </ac:graphicFrameMkLst>
        </pc:graphicFrameChg>
      </pc:sldChg>
      <pc:sldChg chg="addSp delSp modSp add mod modNotes">
        <pc:chgData name="kulwinder bhamra" userId="a12914428fb3a095" providerId="LiveId" clId="{F9C495C9-0E7D-43E7-AD41-513FD928BDD5}" dt="2026-07-21T21:10:39.181" v="83" actId="26606"/>
        <pc:sldMkLst>
          <pc:docMk/>
          <pc:sldMk cId="0" sldId="266"/>
        </pc:sldMkLst>
        <pc:spChg chg="add del mod">
          <ac:chgData name="kulwinder bhamra" userId="a12914428fb3a095" providerId="LiveId" clId="{F9C495C9-0E7D-43E7-AD41-513FD928BDD5}" dt="2026-07-21T21:10:39.181" v="83" actId="26606"/>
          <ac:spMkLst>
            <pc:docMk/>
            <pc:sldMk cId="0" sldId="266"/>
            <ac:spMk id="5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Churn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2A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A63-447C-BD36-7F6BCC663F46}"/>
              </c:ext>
            </c:extLst>
          </c:dPt>
          <c:dPt>
            <c:idx val="1"/>
            <c:bubble3D val="0"/>
            <c:spPr>
              <a:solidFill>
                <a:srgbClr val="E863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A63-447C-BD36-7F6BCC663F46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A63-447C-BD36-7F6BCC663F46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A63-447C-BD36-7F6BCC663F46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Retained (2,885)</c:v>
                </c:pt>
                <c:pt idx="1">
                  <c:v>Churned (1,427)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2885</c:v>
                </c:pt>
                <c:pt idx="1">
                  <c:v>1427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A63-447C-BD36-7F6BCC663F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D374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D374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Retained (0)</c:v>
                </c:pt>
                <c:pt idx="1">
                  <c:v>Churned (1)</c:v>
                </c:pt>
                <c:pt idx="2">
                  <c:v>Weighted Avg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0.49</c:v>
                </c:pt>
                <c:pt idx="1">
                  <c:v>0.65</c:v>
                </c:pt>
                <c:pt idx="2">
                  <c:v>0.57999999999999996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EA-4C3E-9D1D-297FBEA094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E8634A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D374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Retained (0)</c:v>
                </c:pt>
                <c:pt idx="1">
                  <c:v>Churned (1)</c:v>
                </c:pt>
                <c:pt idx="2">
                  <c:v>Weighted Avg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0.49</c:v>
                </c:pt>
                <c:pt idx="1">
                  <c:v>0.65</c:v>
                </c:pt>
                <c:pt idx="2">
                  <c:v>0.57999999999999996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6EA-4C3E-9D1D-297FBEA094A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F1 Score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D374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Retained (0)</c:v>
                </c:pt>
                <c:pt idx="1">
                  <c:v>Churned (1)</c:v>
                </c:pt>
                <c:pt idx="2">
                  <c:v>Weighted Avg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0.49</c:v>
                </c:pt>
                <c:pt idx="1">
                  <c:v>0.65</c:v>
                </c:pt>
                <c:pt idx="2">
                  <c:v>0.57999999999999996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6EA-4C3E-9D1D-297FBEA094A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D374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2982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>
              <a:alpha val="6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Customer Churn Prediction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86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RFM Analysis &amp; Machine Learning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3017520"/>
            <a:ext cx="1097280" cy="36576"/>
          </a:xfrm>
          <a:prstGeom prst="rect">
            <a:avLst/>
          </a:prstGeom>
          <a:solidFill>
            <a:srgbClr val="E863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Retail II Dataset  |  525,461 transactions  |  4,312 customers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Kulwinder Bhamra</a:t>
            </a:r>
            <a:endParaRPr lang="en-US"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rgbClr val="E863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4630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719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customer churn matters for retail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121408"/>
            <a:ext cx="457200" cy="457200"/>
          </a:xfrm>
          <a:prstGeom prst="ellipse">
            <a:avLst/>
          </a:prstGeom>
          <a:solidFill>
            <a:srgbClr val="E863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731520" y="21214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Data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377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Retail II dataset &amp; cleaning pipeline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779776"/>
            <a:ext cx="457200" cy="457200"/>
          </a:xfrm>
          <a:prstGeom prst="ellipse">
            <a:avLst/>
          </a:prstGeom>
          <a:solidFill>
            <a:srgbClr val="E863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31520" y="27797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&amp; RFM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0358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 and RFM scoring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438144"/>
            <a:ext cx="457200" cy="457200"/>
          </a:xfrm>
          <a:prstGeom prst="ellipse">
            <a:avLst/>
          </a:prstGeom>
          <a:solidFill>
            <a:srgbClr val="E863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31520" y="34381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4381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3694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&amp; Random Forest results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4096512"/>
            <a:ext cx="457200" cy="457200"/>
          </a:xfrm>
          <a:prstGeom prst="ellipse">
            <a:avLst/>
          </a:prstGeom>
          <a:solidFill>
            <a:srgbClr val="E863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731520" y="4096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4096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43525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and next steps</a:t>
            </a:r>
            <a:endParaRPr lang="en-US" sz="1200" dirty="0"/>
          </a:p>
        </p:txBody>
      </p:sp>
      <p:pic>
        <p:nvPicPr>
          <p:cNvPr id="23" name="Image 0" descr="/agent/turn4/workspace/professional-flat-illustration-of-customer-data-an_2026-05-11T22-45-50_image_DAS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771972"/>
            <a:ext cx="3474720" cy="19424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Challenge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our dataset, 33% of customers churned (no purchase in 90+ days). Identifying them early is critical to retention.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2514600" cy="256032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21488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7432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525K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005840" y="33832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transactions in the Online Retail II dataset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520440" y="1920240"/>
            <a:ext cx="2514600" cy="2560320"/>
          </a:xfrm>
          <a:prstGeom prst="rect">
            <a:avLst/>
          </a:prstGeom>
          <a:solidFill>
            <a:srgbClr val="243656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14884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20440" y="27432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4,312</a:t>
            </a:r>
            <a:endParaRPr lang="en-US" sz="4200" dirty="0"/>
          </a:p>
        </p:txBody>
      </p:sp>
      <p:sp>
        <p:nvSpPr>
          <p:cNvPr id="11" name="Text 7"/>
          <p:cNvSpPr/>
          <p:nvPr/>
        </p:nvSpPr>
        <p:spPr>
          <a:xfrm>
            <a:off x="3794760" y="33832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customers after cleaning null IDs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309360" y="1920240"/>
            <a:ext cx="2514600" cy="2560320"/>
          </a:xfrm>
          <a:prstGeom prst="rect">
            <a:avLst/>
          </a:prstGeom>
          <a:solidFill>
            <a:srgbClr val="E8634A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214884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09360" y="27432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33%</a:t>
            </a:r>
            <a:endParaRPr lang="en-US" sz="4200" dirty="0"/>
          </a:p>
        </p:txBody>
      </p:sp>
      <p:sp>
        <p:nvSpPr>
          <p:cNvPr id="15" name="Text 10"/>
          <p:cNvSpPr/>
          <p:nvPr/>
        </p:nvSpPr>
        <p:spPr>
          <a:xfrm>
            <a:off x="6583680" y="33832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rate (1,427 of 4,312 customers)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Overview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Retail II dataset: 525,461 transactions from a UK-based online retailer (Dec 2009 - Dec 2010).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0285975"/>
              </p:ext>
            </p:extLst>
          </p:nvPr>
        </p:nvGraphicFramePr>
        <p:xfrm>
          <a:off x="731520" y="1645920"/>
          <a:ext cx="768096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489434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15CM Christmas Glass Ball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InvoiceDate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2009-12-01 07:45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13085.0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107,927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Kingdom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Cleaning Pipeline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768096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6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54480" y="14447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Drop null Customer IDs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7373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107,927 rows with missing Customer ID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17920" y="1508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525,461 → 417,534 rows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240280"/>
            <a:ext cx="768096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14400" y="23317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6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54480" y="2313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 missing descriptions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26060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2,928 null descriptions with 'Unknown'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0" y="2377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nulls remaining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108960"/>
            <a:ext cx="768096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14400" y="32004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6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3182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Filter positive transactions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34747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only Quantity &gt; 0 and Price &gt; 0 (removed returns/credits)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0" y="3246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417,534 → 407,664 rows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977640"/>
            <a:ext cx="768096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914400" y="40690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6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554480" y="40507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Derive TotalPrice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54480" y="4343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TotalPrice = Quantity x Price for monetary analysis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17920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Median: £11.90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RFM Distributions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dimensions are heavily right-skewed — most customers cluster at low values</a:t>
            </a:r>
            <a:endParaRPr lang="en-US" sz="1200" dirty="0"/>
          </a:p>
        </p:txBody>
      </p:sp>
      <p:pic>
        <p:nvPicPr>
          <p:cNvPr id="4" name="Image 0" descr="/agent/turn4/workspace/charts/recency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29125"/>
            <a:ext cx="2834640" cy="1576791"/>
          </a:xfrm>
          <a:prstGeom prst="rect">
            <a:avLst/>
          </a:prstGeom>
        </p:spPr>
      </p:pic>
      <p:pic>
        <p:nvPicPr>
          <p:cNvPr id="5" name="Image 1" descr="/agent/turn4/workspace/charts/frequency_d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2229125"/>
            <a:ext cx="2834640" cy="1576791"/>
          </a:xfrm>
          <a:prstGeom prst="rect">
            <a:avLst/>
          </a:prstGeom>
        </p:spPr>
      </p:pic>
      <p:pic>
        <p:nvPicPr>
          <p:cNvPr id="6" name="Image 2" descr="/agent/turn4/workspace/charts/monetary_d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2229125"/>
            <a:ext cx="2834640" cy="15767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Customer Behavior &amp; Geography</a:t>
            </a:r>
            <a:endParaRPr lang="en-US" sz="3200" dirty="0"/>
          </a:p>
        </p:txBody>
      </p:sp>
      <p:pic>
        <p:nvPicPr>
          <p:cNvPr id="3" name="Image 0" descr="/agent/turn4/workspace/charts/freq_vs_monet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0660"/>
            <a:ext cx="4297680" cy="2662280"/>
          </a:xfrm>
          <a:prstGeom prst="rect">
            <a:avLst/>
          </a:prstGeom>
        </p:spPr>
      </p:pic>
      <p:pic>
        <p:nvPicPr>
          <p:cNvPr id="4" name="Image 1" descr="/agent/turn4/workspace/charts/country_d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824454"/>
            <a:ext cx="4114800" cy="22946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RFM Analysis Framework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behavioral dimensions scored per customer — churn defined as Recency &gt; 90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514600" cy="2834640"/>
          </a:xfrm>
          <a:prstGeom prst="rect">
            <a:avLst/>
          </a:prstGeom>
          <a:solidFill>
            <a:srgbClr val="243656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86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Recency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since last purchase relative to snapshot date (Dec 9, 2010).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05840" y="3794760"/>
            <a:ext cx="1965960" cy="365760"/>
          </a:xfrm>
          <a:prstGeom prst="rect">
            <a:avLst/>
          </a:prstGeom>
          <a:solidFill>
            <a:srgbClr val="E8634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005840" y="3794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threshold: &gt; 90 days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520440" y="1645920"/>
            <a:ext cx="2514600" cy="2834640"/>
          </a:xfrm>
          <a:prstGeom prst="rect">
            <a:avLst/>
          </a:prstGeom>
          <a:solidFill>
            <a:srgbClr val="243656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520440" y="17830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86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3520440" y="2468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Frequency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49040" y="288036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of unique invoices per customer. Median: 2 transactions.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794760" y="3794760"/>
            <a:ext cx="1965960" cy="365760"/>
          </a:xfrm>
          <a:prstGeom prst="rect">
            <a:avLst/>
          </a:prstGeom>
          <a:solidFill>
            <a:srgbClr val="E8634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794760" y="3794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1 to 205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0" y="1645920"/>
            <a:ext cx="2514600" cy="2834640"/>
          </a:xfrm>
          <a:prstGeom prst="rect">
            <a:avLst/>
          </a:prstGeom>
          <a:solidFill>
            <a:srgbClr val="243656"/>
          </a:solidFill>
          <a:ln/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309360" y="17830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86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6309360" y="2468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Monetary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37960" y="288036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TotalPrice per customer. Median spend: £11.90.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83680" y="3794760"/>
            <a:ext cx="1965960" cy="365760"/>
          </a:xfrm>
          <a:prstGeom prst="rect">
            <a:avLst/>
          </a:prstGeom>
          <a:solidFill>
            <a:srgbClr val="E8634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583680" y="3794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£2.95 to £349K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Churn Distribution</a:t>
            </a:r>
            <a:endParaRPr lang="en-US" sz="3600" dirty="0"/>
          </a:p>
        </p:txBody>
      </p:sp>
      <p:graphicFrame>
        <p:nvGraphicFramePr>
          <p:cNvPr id="3" name="Chart 0" descr="Chart"/>
          <p:cNvGraphicFramePr/>
          <p:nvPr>
            <p:extLst>
              <p:ext uri="{D42A27DB-BD31-4B8C-83A1-F6EECF244321}">
                <p14:modId xmlns:p14="http://schemas.microsoft.com/office/powerpoint/2010/main" val="1783324056"/>
              </p:ext>
            </p:extLst>
          </p:nvPr>
        </p:nvGraphicFramePr>
        <p:xfrm>
          <a:off x="457200" y="1097280"/>
          <a:ext cx="411480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029200" y="1280160"/>
            <a:ext cx="3657600" cy="310896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2"/>
          <p:cNvSpPr/>
          <p:nvPr/>
        </p:nvSpPr>
        <p:spPr>
          <a:xfrm>
            <a:off x="5303520" y="1463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Summary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30352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customers: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315200" y="1965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4,312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30352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(Recency &lt;= 90d):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31520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2,885 (67%)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Churned (Recency &gt; 90d):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31520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1,427 (33%)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0352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Recency: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0" y="3063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days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03520" y="3429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Frequency: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0" y="3429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orders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303520" y="3794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Monetary: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£11.90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Modeling Approach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65760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005840" y="1463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0584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Logistic Regression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2402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Recency, Frequency, Monetary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Churn (Recency &gt; 90 days)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random train-test split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E8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100% accuracy</a:t>
            </a:r>
            <a:endParaRPr lang="en-US" sz="1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79476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37490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— Recency directly determines the churn label, making the model trivially perfect.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54880" y="1280160"/>
            <a:ext cx="365760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5029200" y="1463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 (Time-Split)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29200" y="22402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Frequency, Monetary only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80th percentile temporal cutoff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= not active in test period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58% accuracy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79476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94960" y="37490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8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leakage — uses only behavioral features with temporal validation.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Performance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with time-based split — the methodologically sound approach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371600"/>
          <a:ext cx="82296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C-AUC Callout"/>
          <p:cNvSpPr/>
          <p:nvPr/>
        </p:nvSpPr>
        <p:spPr>
          <a:xfrm>
            <a:off x="6172200" y="1005900"/>
            <a:ext cx="2360000" cy="880000"/>
          </a:xfrm>
          <a:prstGeom prst="rect">
            <a:avLst/>
          </a:prstGeom>
          <a:solidFill>
            <a:srgbClr val="FFFFFF">
              <a:alpha val="88000"/>
            </a:srgbClr>
          </a:solidFill>
          <a:ln w="12700">
            <a:solidFill>
              <a:srgbClr val="1B2A4A"/>
            </a:solidFill>
          </a:ln>
        </p:spPr>
        <p:txBody>
          <a:bodyPr wrap="square" lIns="54864" tIns="27432" rIns="54864" bIns="27432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1B2A4A"/>
                </a:solidFill>
                <a:latin typeface="Trebuchet MS" pitchFamily="34" charset="0"/>
              </a:rPr>
              <a:t>ROC-AUC Score: 0.671</a:t>
            </a:r>
          </a:p>
          <a:p>
            <a:pPr marL="0" indent="0">
              <a:buNone/>
            </a:pPr>
            <a:r>
              <a:rPr lang="en-US" sz="750">
                <a:solidFill>
                  <a:srgbClr val="2D3748"/>
                </a:solidFill>
                <a:latin typeface="Calibri" pitchFamily="34" charset="0"/>
              </a:rPr>
              <a:t>The Random Forest model demonstrated a fair ability to distinguish between customers likely to churn and those likely to remain active.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Importance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classifier feature importance scores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Monetary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6675120" cy="548640"/>
          </a:xfrm>
          <a:prstGeom prst="rect">
            <a:avLst/>
          </a:prstGeom>
          <a:solidFill>
            <a:srgbClr val="E8634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6400800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86.7%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Frequency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3749040"/>
            <a:ext cx="1024128" cy="54864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920240" y="37490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13.3%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14800" y="347472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Monetary value dominates prediction — how much a customer spends is the strongest signal of future behavior.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657600" cy="150876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00584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6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leakage matters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05840" y="1783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Recency as a feature when churn is defined by Recency yields a misleadingly perfect model. The time-split approach is more honest.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657600" cy="150876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502920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6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Monetary is the top predictor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0" y="1783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86.7% feature importance, customer spend is far more predictive than purchase frequency (13.3%) in the Random Forest model.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3063240"/>
            <a:ext cx="3657600" cy="150876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005840" y="3200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6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58% accuracy — room to grow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35661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Random Forest without Recency achieves 58% accuracy. Additional features (product diversity, seasonality) could improve this.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3063240"/>
            <a:ext cx="3657600" cy="1508760"/>
          </a:xfrm>
          <a:prstGeom prst="rect">
            <a:avLst/>
          </a:prstGeom>
          <a:solidFill>
            <a:srgbClr val="F5F7FA"/>
          </a:solidFill>
          <a:ln/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029200" y="3200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6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Imbalanced classes affect results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0" y="35661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67% retained vs 33% churned, the model performs better on the majority class. Resampling or cost-sensitive learning could help.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Steps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1732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features: product category diversity, return rate, day-of-week patterns</a:t>
            </a:r>
            <a:endParaRPr lang="en-US" sz="13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11680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18872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gradient boosting (XGBoost / LightGBM) for better accuracy</a:t>
            </a:r>
            <a:endParaRPr lang="en-US" sz="13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06040"/>
            <a:ext cx="274320" cy="2743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188720" y="2560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SMOTE or class weighting to handle the 67/33 imbalance</a:t>
            </a:r>
            <a:endParaRPr lang="en-US" sz="13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0"/>
            <a:ext cx="274320" cy="2743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188720" y="3154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hyperparameters with cross-validation on the time-split</a:t>
            </a:r>
            <a:endParaRPr lang="en-US" sz="13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94760"/>
            <a:ext cx="274320" cy="2743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18872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scoring pipeline for real-time churn risk assessment</a:t>
            </a:r>
            <a:endParaRPr lang="en-US" sz="1300" dirty="0"/>
          </a:p>
        </p:txBody>
      </p:sp>
      <p:sp>
        <p:nvSpPr>
          <p:cNvPr id="13" name="Shape 6"/>
          <p:cNvSpPr/>
          <p:nvPr/>
        </p:nvSpPr>
        <p:spPr>
          <a:xfrm>
            <a:off x="5760720" y="1371600"/>
            <a:ext cx="2926080" cy="2560320"/>
          </a:xfrm>
          <a:prstGeom prst="rect">
            <a:avLst/>
          </a:prstGeom>
          <a:solidFill>
            <a:srgbClr val="E8634A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645920"/>
            <a:ext cx="548640" cy="54864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6035040" y="2286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 to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Improve?</a:t>
            </a:r>
            <a:endParaRPr lang="en-US" sz="2000" dirty="0"/>
          </a:p>
        </p:txBody>
      </p:sp>
      <p:sp>
        <p:nvSpPr>
          <p:cNvPr id="16" name="Text 8"/>
          <p:cNvSpPr/>
          <p:nvPr/>
        </p:nvSpPr>
        <p:spPr>
          <a:xfrm>
            <a:off x="603504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75%+ accuracy with enriched features and tuned models.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752</Words>
  <Application>Microsoft Office PowerPoint</Application>
  <PresentationFormat>On-screen Show (16:9)</PresentationFormat>
  <Paragraphs>174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kulwinder bhamra</dc:creator>
  <cp:lastModifiedBy>kulwinder bhamra</cp:lastModifiedBy>
  <cp:revision>1</cp:revision>
  <dcterms:created xsi:type="dcterms:W3CDTF">2026-05-11T22:31:56Z</dcterms:created>
  <dcterms:modified xsi:type="dcterms:W3CDTF">2026-07-21T21:10:50Z</dcterms:modified>
</cp:coreProperties>
</file>